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Catálogo (Advantage+)</c:v>
                </c:pt>
              </c:strCache>
            </c:strRef>
          </c:tx>
          <c:spPr>
            <a:solidFill>
              <a:srgbClr val="FFD400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FFD400"/>
              </a:solidFill>
              <a:ln w="9525" cap="flat">
                <a:solidFill>
                  <a:srgbClr val="FFD4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5955.87</c:v>
                </c:pt>
                <c:pt idx="1">
                  <c:v>3592.13</c:v>
                </c:pt>
                <c:pt idx="2">
                  <c:v>2693.82</c:v>
                </c:pt>
                <c:pt idx="3">
                  <c:v>1790.28</c:v>
                </c:pt>
                <c:pt idx="4">
                  <c:v>1485.83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9.01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Interés Amplio (Moda)</c:v>
                </c:pt>
              </c:strCache>
            </c:strRef>
          </c:tx>
          <c:spPr>
            <a:solidFill>
              <a:srgbClr val="FFD400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FFD400"/>
              </a:solidFill>
              <a:ln w="9525" cap="flat">
                <a:solidFill>
                  <a:srgbClr val="FFD4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5955.87</c:v>
                </c:pt>
                <c:pt idx="1">
                  <c:v>3592.13</c:v>
                </c:pt>
                <c:pt idx="2">
                  <c:v>2693.82</c:v>
                </c:pt>
                <c:pt idx="3">
                  <c:v>1790.28</c:v>
                </c:pt>
                <c:pt idx="4">
                  <c:v>1485.83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>12.29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Calzado — SATURADA</c:v>
                </c:pt>
              </c:strCache>
            </c:strRef>
          </c:tx>
          <c:spPr>
            <a:solidFill>
              <a:srgbClr val="0A0A0A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0A0A0A"/>
              </a:solidFill>
              <a:ln w="9525" cap="flat">
                <a:solidFill>
                  <a:srgbClr val="0A0A0A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5955.87</c:v>
                </c:pt>
                <c:pt idx="1">
                  <c:v>3592.13</c:v>
                </c:pt>
                <c:pt idx="2">
                  <c:v>2693.82</c:v>
                </c:pt>
                <c:pt idx="3">
                  <c:v>1790.28</c:v>
                </c:pt>
                <c:pt idx="4">
                  <c:v>1485.83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>1.71</c:v>
                </c:pt>
                <c:pt idx="3">
                  <c:v/>
                </c:pt>
                <c:pt idx="4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Test Creativos</c:v>
                </c:pt>
              </c:strCache>
            </c:strRef>
          </c:tx>
          <c:spPr>
            <a:solidFill>
              <a:srgbClr val="FFD400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FFD400"/>
              </a:solidFill>
              <a:ln w="9525" cap="flat">
                <a:solidFill>
                  <a:srgbClr val="FFD4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5955.87</c:v>
                </c:pt>
                <c:pt idx="1">
                  <c:v>3592.13</c:v>
                </c:pt>
                <c:pt idx="2">
                  <c:v>2693.82</c:v>
                </c:pt>
                <c:pt idx="3">
                  <c:v>1790.28</c:v>
                </c:pt>
                <c:pt idx="4">
                  <c:v>1485.83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3.94</c:v>
                </c:pt>
                <c:pt idx="4">
                  <c:v/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Retargeting (Carrito)</c:v>
                </c:pt>
              </c:strCache>
            </c:strRef>
          </c:tx>
          <c:spPr>
            <a:solidFill>
              <a:srgbClr val="FFD400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FFD400"/>
              </a:solidFill>
              <a:ln w="9525" cap="flat">
                <a:solidFill>
                  <a:srgbClr val="FFD4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5955.87</c:v>
                </c:pt>
                <c:pt idx="1">
                  <c:v>3592.13</c:v>
                </c:pt>
                <c:pt idx="2">
                  <c:v>2693.82</c:v>
                </c:pt>
                <c:pt idx="3">
                  <c:v>1790.28</c:v>
                </c:pt>
                <c:pt idx="4">
                  <c:v>1485.83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35.2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600"/>
          <c:min val="1000"/>
        </c:scaling>
        <c:delete val="0"/>
        <c:axPos val="b"/>
        <c:majorGridlines>
          <c:spPr>
            <a:ln w="12700" cap="flat">
              <a:solidFill>
                <a:srgbClr val="F4F4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Inversión total (USD)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ROAS (x)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FFD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1.32</c:v>
                </c:pt>
                <c:pt idx="1">
                  <c:v>1.92</c:v>
                </c:pt>
                <c:pt idx="2">
                  <c:v>2.76</c:v>
                </c:pt>
                <c:pt idx="3">
                  <c:v>3.6</c:v>
                </c:pt>
                <c:pt idx="4">
                  <c:v>4.38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CTR %</c:v>
                </c:pt>
              </c:strCache>
            </c:strRef>
          </c:tx>
          <c:spPr>
            <a:solidFill>
              <a:srgbClr val="0A0A0A"/>
            </a:solidFill>
            <a:ln w="38100" cap="flat">
              <a:solidFill>
                <a:srgbClr val="0A0A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A0A0A"/>
              </a:solidFill>
              <a:ln w="9525" cap="flat">
                <a:solidFill>
                  <a:srgbClr val="0A0A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1.75</c:v>
                </c:pt>
                <c:pt idx="1">
                  <c:v>1.49</c:v>
                </c:pt>
                <c:pt idx="2">
                  <c:v>1.15</c:v>
                </c:pt>
                <c:pt idx="3">
                  <c:v>0.77</c:v>
                </c:pt>
                <c:pt idx="4">
                  <c:v>0.45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Frecuencia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CTR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0A0A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D400"/>
              </a:solidFill>
              <a:effectLst/>
            </c:spPr>
          </c:dPt>
          <c:dPt>
            <c:idx val="1"/>
            <c:bubble3D val="0"/>
            <c:spPr>
              <a:solidFill>
                <a:srgbClr val="0A0A0A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Retargeting (35.2x ROAS)</c:v>
                </c:pt>
                <c:pt idx="1">
                  <c:v>Resto de campañas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0.096</c:v>
                </c:pt>
                <c:pt idx="1">
                  <c:v>0.904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Ingresos hoy</c:v>
                  </c:pt>
                  <c:pt idx="1">
                    <c:v>Ganancia por
reasignación</c:v>
                  </c:pt>
                  <c:pt idx="2">
                    <c:v>Ingresos
proyectados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161776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FFD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Ingresos hoy</c:v>
                  </c:pt>
                  <c:pt idx="1">
                    <c:v>Ganancia por
reasignación</c:v>
                  </c:pt>
                  <c:pt idx="2">
                    <c:v>Ingresos
proyectados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161776</c:v>
                </c:pt>
                <c:pt idx="1">
                  <c:v>28387</c:v>
                </c:pt>
                <c:pt idx="2">
                  <c:v>190163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00"/>
          <c:min val="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669280" cy="5669280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91840" cy="3291840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3703320"/>
            <a:ext cx="1051560" cy="105156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PERFORMANCE · META ADS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Cuenta y Plan de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para E-commerce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algorítmica de fatiga creativa, cuantificación de fuga de presupuesto y hoja de ruta de escalamiento, sobre datos reales de una cuenta de e-commerce en Meta Ads.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64008" cy="1051560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590288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Analista: </a:t>
            </a:r>
            <a:pPr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Aldana — Performance Marketing</a:t>
            </a:r>
            <a:endParaRPr lang="en-US" sz="1250" dirty="0"/>
          </a:p>
          <a:p>
            <a:pPr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pPr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Insights API · 5 campañas · 30 días de datos</a:t>
            </a:r>
            <a:endParaRPr lang="en-US" sz="1250" dirty="0"/>
          </a:p>
          <a:p>
            <a:pPr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</a:t>
            </a:r>
            <a:pPr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propio de diagnóstico (Meta Ads Data Agent)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  ·  MUESTRA DE PORTAFOLIO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Global de la Cuenta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de datos reales sobre 5 campañas activas (prospección, retargeting y testeo). La cuenta es rentable en conjunto — pero esconde una fuga de presupuesto concentrada en un solo lugar.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80894" cy="137160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93976"/>
            <a:ext cx="230657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$15,518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53512"/>
            <a:ext cx="2306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(30 días)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5566" y="1965960"/>
            <a:ext cx="2580894" cy="1371600"/>
          </a:xfrm>
          <a:prstGeom prst="roundRect">
            <a:avLst>
              <a:gd name="adj" fmla="val 6000"/>
            </a:avLst>
          </a:prstGeom>
          <a:solidFill>
            <a:srgbClr val="FFD400"/>
          </a:solidFill>
          <a:ln/>
          <a:effectLst>
            <a:outerShdw sx="100000" sy="100000" kx="0" ky="0" algn="bl" rotWithShape="0" blurRad="76200" dist="25400" dir="5400000">
              <a:srgbClr val="0A0A0A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2726" y="2093976"/>
            <a:ext cx="230657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$161,776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522726" y="2953512"/>
            <a:ext cx="2306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generados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2492" y="1965960"/>
            <a:ext cx="2580894" cy="137160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9652" y="2093976"/>
            <a:ext cx="230657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10.43x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359652" y="2953512"/>
            <a:ext cx="2306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ponderado de cuenta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9418" y="1965960"/>
            <a:ext cx="2580894" cy="1371600"/>
          </a:xfrm>
          <a:prstGeom prst="roundRect">
            <a:avLst>
              <a:gd name="adj" fmla="val 6000"/>
            </a:avLst>
          </a:prstGeom>
          <a:solidFill>
            <a:srgbClr val="FFD400"/>
          </a:solidFill>
          <a:ln/>
          <a:effectLst>
            <a:outerShdw sx="100000" sy="100000" kx="0" ky="0" algn="bl" rotWithShape="0" blurRad="76200" dist="25400" dir="5400000">
              <a:srgbClr val="0A0A0A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96578" y="2093976"/>
            <a:ext cx="230657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2,346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9196578" y="2953512"/>
            <a:ext cx="2306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atribuidas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CUENTA ANALIZADA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TOFU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325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— catálogo, interés amplio, interés de nicho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77316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BOFU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010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— carrito abandonado (DPA)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5896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440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TEST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696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creativos nuevos (UGC / video)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3703320"/>
            <a:ext cx="5148072" cy="2331720"/>
          </a:xfrm>
          <a:prstGeom prst="roundRect">
            <a:avLst>
              <a:gd name="adj" fmla="val 3529"/>
            </a:avLst>
          </a:prstGeom>
          <a:solidFill>
            <a:srgbClr val="0A0A0A"/>
          </a:solidFill>
          <a:ln/>
        </p:spPr>
      </p:sp>
      <p:sp>
        <p:nvSpPr>
          <p:cNvPr id="31" name="Shape 29"/>
          <p:cNvSpPr/>
          <p:nvPr/>
        </p:nvSpPr>
        <p:spPr>
          <a:xfrm>
            <a:off x="6675120" y="3886200"/>
            <a:ext cx="457200" cy="457200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877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crítico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52628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100% de la ineficiencia de la cuenta se concentra en 1 de las 5 campañas: Prospección de Calzado. Sufre fatiga creativa severa y en su última semana gastó dinero sin generar ni una sola compra.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POR CAMPAÑA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Eficiencia de la Cuenta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(eje X) vs. ROAS (eje Y) — cada punto es una campaña, 30 días de gasto real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35.2x · $1,486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48280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Calzado — SATURADA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 · $2,694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EFICIENCIA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2075688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45552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(DPA)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45552" y="2423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performer — solo 9.6% del presupuesto</a:t>
            </a:r>
            <a:endParaRPr lang="en-US" sz="980" dirty="0"/>
          </a:p>
        </p:txBody>
      </p:sp>
      <p:sp>
        <p:nvSpPr>
          <p:cNvPr id="12" name="Text 9"/>
          <p:cNvSpPr txBox="1"/>
          <p:nvPr/>
        </p:nvSpPr>
        <p:spPr>
          <a:xfrm>
            <a:off x="10195560" y="207568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35.2x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680960" y="29718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45552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Amplio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845552" y="33192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volumen, sano y estable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297180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12.3x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680960" y="3867912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45552" y="3941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Advantage+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845552" y="42153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inversión, rentabilidad sólida</a:t>
            </a:r>
            <a:endParaRPr lang="en-US" sz="980" dirty="0"/>
          </a:p>
        </p:txBody>
      </p:sp>
      <p:sp>
        <p:nvSpPr>
          <p:cNvPr id="20" name="Text 17"/>
          <p:cNvSpPr txBox="1"/>
          <p:nvPr/>
        </p:nvSpPr>
        <p:spPr>
          <a:xfrm>
            <a:off x="10195560" y="3867912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9.0x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680960" y="4764024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45552" y="4837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Creativos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845552" y="5111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más alto (3.9%) pero bajo volumen</a:t>
            </a:r>
            <a:endParaRPr lang="en-US" sz="980" dirty="0"/>
          </a:p>
        </p:txBody>
      </p:sp>
      <p:sp>
        <p:nvSpPr>
          <p:cNvPr id="24" name="Text 21"/>
          <p:cNvSpPr txBox="1"/>
          <p:nvPr/>
        </p:nvSpPr>
        <p:spPr>
          <a:xfrm>
            <a:off x="10195560" y="476402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3.9x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680960" y="5660136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0A0A0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845552" y="5733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Calzado — SATURADA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845552" y="6007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crítica — ver diagnóstico siguiente</a:t>
            </a:r>
            <a:endParaRPr lang="en-US" sz="980" dirty="0"/>
          </a:p>
        </p:txBody>
      </p:sp>
      <p:sp>
        <p:nvSpPr>
          <p:cNvPr id="28" name="Text 25"/>
          <p:cNvSpPr txBox="1"/>
          <p:nvPr/>
        </p:nvSpPr>
        <p:spPr>
          <a:xfrm>
            <a:off x="10195560" y="5660136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1.7x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CRÍTICA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Profundo: Fatiga Creativa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Campaña: PROSP_TOFU_Intereses_Calzado_Saturado — evolución semanal (5 semanas)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6492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26948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DÍA vs. ÚLTIMO DÍA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69480" y="2011680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FF3B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24928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 →  4.68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835640" y="2011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2670048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FF3B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24928" y="26700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26700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1.72%  →  0.36%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835640" y="26700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-79%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69480" y="3328416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FF3B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24928" y="3328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0" y="33284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$12.68  →  $0 (sin compras)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835640" y="33284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69480" y="3986784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FF3B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24928" y="39867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39867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4.18x  →  0.00x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835640" y="39867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69480" y="4718304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0A0A0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48463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 sus últimos 5 días, la campaña gastó $442.91 y no generó ninguna compra: presupuesto quemándose en piloto automático.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Mecánica del Ciclo de Saturación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una campaña sana termina en fatiga: el mismo público sobreexpuesto a los mismos creativos entra en una espiral que el propio algoritmo de Meta empeora.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FF3B8"/>
          </a:solidFill>
          <a:ln/>
        </p:spPr>
      </p:sp>
      <p:sp>
        <p:nvSpPr>
          <p:cNvPr id="6" name="Shape 4"/>
          <p:cNvSpPr/>
          <p:nvPr/>
        </p:nvSpPr>
        <p:spPr>
          <a:xfrm>
            <a:off x="1522476" y="2368296"/>
            <a:ext cx="566928" cy="566928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22476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10896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 acotada y repetida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130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de interés (Calzado) es pequeño y ya fue impactado múltiples veces por el mismo hook creativo.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3090672" y="3529584"/>
            <a:ext cx="201168" cy="164592"/>
          </a:xfrm>
          <a:prstGeom prst="triangle">
            <a:avLst/>
          </a:prstGeom>
          <a:solidFill>
            <a:srgbClr val="0A0A0A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21488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FF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3108" y="2368296"/>
            <a:ext cx="566928" cy="566928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310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310896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se dispara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8130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sigue mostrando el anuncio al mismo público: la frecuencia sube de 1.2x a 4.7x en 30 días.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861304" y="3529584"/>
            <a:ext cx="201168" cy="164592"/>
          </a:xfrm>
          <a:prstGeom prst="triangle">
            <a:avLst/>
          </a:prstGeom>
          <a:solidFill>
            <a:srgbClr val="0A0A0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9904" y="21488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0A0A0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63740" y="2368296"/>
            <a:ext cx="566928" cy="56692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63740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310896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y engagement colapsan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8130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público ya descartó el mensaje. El CTR cae 79%: el anuncio se volvió invisible.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8631936" y="3529584"/>
            <a:ext cx="201168" cy="164592"/>
          </a:xfrm>
          <a:prstGeom prst="triangle">
            <a:avLst/>
          </a:prstGeom>
          <a:solidFill>
            <a:srgbClr val="0A0A0A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0536" y="21488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0A0A0A"/>
          </a:solidFill>
          <a:ln/>
        </p:spPr>
      </p:sp>
      <p:sp>
        <p:nvSpPr>
          <p:cNvPr id="24" name="Shape 22"/>
          <p:cNvSpPr/>
          <p:nvPr/>
        </p:nvSpPr>
        <p:spPr>
          <a:xfrm>
            <a:off x="9834372" y="2368296"/>
            <a:ext cx="566928" cy="56692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34372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310896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algoritmo compensa mal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43416" y="38130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sostener el volumen, el sistema amplía el alcance hacia usuarios de menor intención — el CPA se dispara.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D4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ROAS colapsa de 4.18x a 0.00x en 30 días — sin una intervención manual, el ciclo no se detiene solo.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DETECTADA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Ganador Silencioso de la Cuenta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Calzado quema presupuesto, Retargeting (Carrito Abandonado) es la campaña más rentable de toda la cuenta — y recibe la menor inversión.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PRESUPUESTO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214884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20040" y="3657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presupuesto total genera el mejor ROAS de la cuenta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1874520"/>
            <a:ext cx="5431536" cy="1051560"/>
          </a:xfrm>
          <a:prstGeom prst="roundRect">
            <a:avLst>
              <a:gd name="adj" fmla="val 7826"/>
            </a:avLst>
          </a:prstGeom>
          <a:solidFill>
            <a:srgbClr val="0A0A0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0" y="2002536"/>
            <a:ext cx="515721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35.2x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54203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de Retargeting (DPA)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9320" y="3127248"/>
            <a:ext cx="5431536" cy="1051560"/>
          </a:xfrm>
          <a:prstGeom prst="roundRect">
            <a:avLst>
              <a:gd name="adj" fmla="val 7826"/>
            </a:avLst>
          </a:prstGeom>
          <a:solidFill>
            <a:srgbClr val="FFF3B8"/>
          </a:solidFill>
          <a:ln/>
          <a:effectLst>
            <a:outerShdw sx="100000" sy="100000" kx="0" ky="0" algn="bl" rotWithShape="0" blurRad="76200" dist="25400" dir="5400000">
              <a:srgbClr val="0A0A0A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126480" y="3255264"/>
            <a:ext cx="515721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1.3x–1.4x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79476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estable, sin fatiga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4379976"/>
            <a:ext cx="5650992" cy="2084832"/>
          </a:xfrm>
          <a:prstGeom prst="roundRect">
            <a:avLst>
              <a:gd name="adj" fmla="val 3947"/>
            </a:avLst>
          </a:prstGeom>
          <a:solidFill>
            <a:srgbClr val="FFD4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09360" y="45628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ESE PRESUPUESTO PERDIDO SE HUBIERA INVERTIDO AQUÍ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49469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$90,210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56784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ingresos potenciales dejados sobre la mesa vs. los $4,611.95 que esa misma inversión realmente generó.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de Escalamiento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Días 0–7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672" y="2103120"/>
            <a:ext cx="548640" cy="548640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614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Remediación Inmediata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2724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Calzado Saturada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61188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anuncios con frecuencia &gt; 3.5 y CTR &lt; 1.0%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3 hooks nuevos: dolor, beneficio y prueba social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el presupuesto liberado hacia Fase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D4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171907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Días 7–30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9432" y="2103120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943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7614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Rentable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12724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&amp; Carrito Abandonado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61188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presupuesto de Retargeting DPA +20% gradual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Testear ofertas de checkout: envío gratis 24h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TOFU Broad con los creativos ganadores del 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4630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94192" y="171907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Días 30–60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94192" y="2103120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9419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27614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&amp; Gobernanza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12724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 del sistema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61188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automática si Frecuencia +50% y CTR −30%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diaria Meta API + Shopify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rebalanceo de presupuesto por ROAS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Estimado del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conservador: redistribuir el presupuesto de la campaña saturada hacia el mix rentable actual, sin aumentar la inversión total.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DE INGRESOS (WATERFALL)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40280"/>
          <a:ext cx="6583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3241745"/>
            <a:ext cx="1600200" cy="0"/>
          </a:xfrm>
          <a:prstGeom prst="rect">
            <a:avLst/>
          </a:prstGeom>
          <a:noFill/>
          <a:ln/>
        </p:spPr>
      </p:sp>
      <p:sp>
        <p:nvSpPr>
          <p:cNvPr id="8" name="Text 5"/>
          <p:cNvSpPr txBox="1"/>
          <p:nvPr/>
        </p:nvSpPr>
        <p:spPr>
          <a:xfrm>
            <a:off x="685800" y="312287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$161,776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268407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+$28,387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268407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$190,163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920" y="1920240"/>
            <a:ext cx="4279392" cy="1371600"/>
          </a:xfrm>
          <a:prstGeom prst="roundRect">
            <a:avLst>
              <a:gd name="adj" fmla="val 6000"/>
            </a:avLst>
          </a:prstGeom>
          <a:solidFill>
            <a:srgbClr val="FFF3B8"/>
          </a:solidFill>
          <a:ln/>
          <a:effectLst>
            <a:outerShdw sx="100000" sy="100000" kx="0" ky="0" algn="bl" rotWithShape="0" blurRad="76200" dist="25400" dir="5400000">
              <a:srgbClr val="0A0A0A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98080" y="2048256"/>
            <a:ext cx="40050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10.43x → 12.25x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290779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ponderado de cuenta (+17.5%)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60920" y="3429000"/>
            <a:ext cx="4279392" cy="137160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0" y="3557016"/>
            <a:ext cx="40050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441655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adicional requerida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60920" y="4937760"/>
            <a:ext cx="4279392" cy="1188720"/>
          </a:xfrm>
          <a:prstGeom prst="roundRect">
            <a:avLst>
              <a:gd name="adj" fmla="val 6923"/>
            </a:avLst>
          </a:prstGeom>
          <a:solidFill>
            <a:srgbClr val="FFD4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89520" y="507492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+$28,387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55961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ingresos incrementales estimados en 30 días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120640" cy="5120640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15568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construido sobre datos reales de Meta Ads Insights API (nivel cuenta, campaña y ad set), procesados con un pipeline propio de detección de anomalías y generación de recomendaciones — sin estimaciones genéricas ni benchmarks de industria.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revisar este diagnóstico.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para auditar tu cuenta de Meta Ads y construir el mismo tipo de plan de acción, con datos reales y resultados medibles.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4114800" cy="27432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Aldana</a:t>
            </a:r>
            <a:endParaRPr lang="en-US" sz="1800" dirty="0"/>
          </a:p>
          <a:p>
            <a:pPr indent="0" marL="0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· Meta Ads &amp; E-commerce</a:t>
            </a:r>
            <a:endParaRPr lang="en-US" sz="1800" dirty="0"/>
          </a:p>
          <a:p>
            <a:pPr indent="0" marL="0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marketingdanielm@gmail.com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META ADS · E-COMMERCE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2026-09-02T14:30:33Z</dcterms:created>
  <dcterms:modified xsi:type="dcterms:W3CDTF">2026-09-02T14:30:33Z</dcterms:modified>
</cp:coreProperties>
</file>